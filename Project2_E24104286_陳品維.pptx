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75" r:id="rId6"/>
    <p:sldId id="274" r:id="rId7"/>
    <p:sldId id="267" r:id="rId8"/>
    <p:sldId id="268" r:id="rId9"/>
    <p:sldId id="269" r:id="rId10"/>
    <p:sldId id="270" r:id="rId11"/>
    <p:sldId id="271" r:id="rId12"/>
    <p:sldId id="272" r:id="rId13"/>
    <p:sldId id="266" r:id="rId14"/>
    <p:sldId id="273" r:id="rId15"/>
    <p:sldId id="259" r:id="rId16"/>
    <p:sldId id="287" r:id="rId17"/>
    <p:sldId id="264" r:id="rId18"/>
    <p:sldId id="288" r:id="rId19"/>
    <p:sldId id="289" r:id="rId20"/>
    <p:sldId id="276" r:id="rId21"/>
    <p:sldId id="290" r:id="rId22"/>
    <p:sldId id="291" r:id="rId23"/>
    <p:sldId id="260" r:id="rId24"/>
    <p:sldId id="278" r:id="rId25"/>
    <p:sldId id="277" r:id="rId26"/>
    <p:sldId id="280" r:id="rId27"/>
    <p:sldId id="281" r:id="rId28"/>
    <p:sldId id="282" r:id="rId29"/>
    <p:sldId id="261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630961-A732-EFD5-0B62-FE733719A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EF9E69-6800-D72A-3D0A-A626EBF6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84CA97-2B04-8780-4945-AF6D9303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0E0531-17C0-EE99-771F-3638E781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8B855F-383A-B03B-3540-CC204195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2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0F70B-2F4A-A9B7-44DD-3FCBC76A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444726-BEED-1C1E-6ADA-30C59807F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139617-12A5-18D3-A1BC-C7C07B16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8CA21D-9F36-4DE4-60FA-B7547577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E3225-CBA9-E6CB-2E4B-F425B971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39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42169-8945-2EA8-1D2D-FA94882C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7D9877-ADF6-4E24-D2A5-6DBE4315D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41D9D5-D51C-FDC4-2C8D-28506954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B60EE6-927D-CE1F-B356-7348F835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29B879-89FF-1276-889C-C19A75DA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50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A2454-7784-E8BA-7465-9DB30A35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12ECCD-5A4E-657F-D38D-FAFA3491A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B02A80F-8305-DC97-D9CE-B37F2E595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339A12-0F3D-BAA0-F83D-1DD1F3AB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183718-8415-F20B-B4E7-97C22707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A92095-5470-137F-C8A7-8C4A12CA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18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A0B728-8D4A-279E-36CF-93775FE8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F9E646-5022-6857-F6F5-E728E693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AD9167-AAE3-D1F6-EBC1-12AA9201A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DA0C99-80CF-1BB6-8243-7FF518D51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33BF62-5934-A46B-C591-7811E2DD3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6F590B-38F5-F9A9-695D-0AFA064A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92543AD-CFD7-198C-D78A-038B9A54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DB617E-5373-2390-38ED-76F744F8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25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E48B0C-588C-D89D-898F-D8972CB8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652882-6054-C60B-A39C-5C754A43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47B40E-CD6A-35EC-A6A8-D1E40569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B27AC1-A8D8-D1A6-5BD9-2EFC7B8A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7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BB84F6-EA01-6CB9-CFA0-48373B4F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DA13F3D-5F73-28DA-85A6-B99F14FA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D7AC9D-CBF4-0B17-30C0-BD593407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79EDDC-A5F5-6736-EFAA-DC09A10C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CA05D8-2233-909F-02BA-53196BD19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C1255F-31E6-AEFC-779F-607D1B11E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1CDA12-8229-3472-F825-6F504F6B4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509F53-1D73-CC55-B75E-F7FD4824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BED30D-7D52-2014-7D8F-A7E78C14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68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514467-E2EA-F4F2-AC71-1FCE53F3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34356F-8370-05D9-F637-6FF313910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B192CF-10A3-8B90-618D-C7434840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FAF586-C81E-142D-FB3D-B68970A2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7D85-15C3-A95A-FC9E-7A4717F4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521F3D-08E6-9C25-8759-E52D05A0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59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96F4E7-4AFA-43E0-CE1C-DD3A6281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1C724C-916B-E10F-01E5-ABDB8DD4B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FB02F1-B827-A9C5-DD5E-FF8507E7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4E6992-3F8D-CC7F-DE99-C2B402B1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413192-FF07-9629-594A-AF66122D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97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28B7E62-8329-FA74-915A-8D8C862C7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C98A25-662D-84E9-58F1-950CB370A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C4FDE2-2820-723C-9F77-61622B02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E8AAED-0FEC-15EE-3A4B-5A9861D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4D2FD7-9027-592F-2586-599962D2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84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BC57F63-5ABC-D1FE-57E2-C3B7C2B7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6ED491-314F-E60D-6C53-C9C720F3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822205-D851-D191-6675-EF72D6347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ADEED-67BB-40D9-BBDE-B63B03D79FB1}" type="datetimeFigureOut">
              <a:rPr lang="zh-TW" altLang="en-US" smtClean="0"/>
              <a:t>2025/1/24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382891-15AA-EC38-9FA0-25B16E857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F49F9F-0068-F382-6A96-EBEE6DF23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38356-53C5-47A5-9252-67EFBBA361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26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58FC3F-5DB9-6561-B077-4AB45BE87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2" y="85154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8000" b="1" dirty="0">
                <a:latin typeface="+mn-lt"/>
              </a:rPr>
              <a:t>ECC Final Project</a:t>
            </a:r>
            <a:endParaRPr lang="zh-TW" altLang="en-US" sz="8000" b="1" dirty="0">
              <a:latin typeface="+mn-lt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4C17941-5B8C-66DB-C47B-136CF5551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2460" y="3429000"/>
            <a:ext cx="6207065" cy="707886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Low-Density Parity-Check Codes</a:t>
            </a:r>
            <a:endParaRPr lang="zh-TW" altLang="en-US" sz="3200" b="1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D641D3C-955C-59B3-B9F9-709B0306AB26}"/>
              </a:ext>
            </a:extLst>
          </p:cNvPr>
          <p:cNvSpPr txBox="1"/>
          <p:nvPr/>
        </p:nvSpPr>
        <p:spPr>
          <a:xfrm>
            <a:off x="5069911" y="4326738"/>
            <a:ext cx="20521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陳品維 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3200" b="1" dirty="0">
                <a:ea typeface="標楷體" panose="03000509000000000000" pitchFamily="65" charset="-120"/>
              </a:rPr>
              <a:t>E24104286</a:t>
            </a:r>
            <a:endParaRPr lang="zh-TW" altLang="en-US" sz="3200" b="1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599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5F5641-9B1A-16A8-5D5D-DAD3C9AE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+mn-lt"/>
              </a:rPr>
              <a:t>LDPC Codes Block Diagram</a:t>
            </a:r>
            <a:endParaRPr lang="zh-TW" altLang="en-US" b="1" dirty="0">
              <a:latin typeface="+mn-lt"/>
            </a:endParaRPr>
          </a:p>
        </p:txBody>
      </p:sp>
      <p:pic>
        <p:nvPicPr>
          <p:cNvPr id="1026" name="Picture 2" descr="一張含有 文字, 圖表, 行, 螢幕擷取畫面 的圖片&#10;&#10;自動產生的描述">
            <a:extLst>
              <a:ext uri="{FF2B5EF4-FFF2-40B4-BE49-F238E27FC236}">
                <a16:creationId xmlns:a16="http://schemas.microsoft.com/office/drawing/2014/main" id="{6AA9B6FB-26AA-47D5-680A-3C031A7691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53" y="2121692"/>
            <a:ext cx="9551894" cy="370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4E434FA-D037-4772-8BB6-8558555C7DC8}"/>
              </a:ext>
            </a:extLst>
          </p:cNvPr>
          <p:cNvSpPr txBox="1"/>
          <p:nvPr/>
        </p:nvSpPr>
        <p:spPr>
          <a:xfrm>
            <a:off x="4342090" y="6031210"/>
            <a:ext cx="3576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LDPC Codes Block Diagram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2862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7FC20-B117-1FCA-6983-6C89C0DD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  <a:ea typeface="標楷體" panose="03000509000000000000" pitchFamily="65" charset="-120"/>
              </a:rPr>
              <a:t>LDPC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程式流程圖</a:t>
            </a:r>
          </a:p>
        </p:txBody>
      </p:sp>
      <p:pic>
        <p:nvPicPr>
          <p:cNvPr id="2050" name="Picture 2" descr="一張含有 文字, 螢幕擷取畫面, 圖表, 字型 的圖片&#10;&#10;自動產生的描述">
            <a:extLst>
              <a:ext uri="{FF2B5EF4-FFF2-40B4-BE49-F238E27FC236}">
                <a16:creationId xmlns:a16="http://schemas.microsoft.com/office/drawing/2014/main" id="{F28D10AA-CA9A-2650-7BED-21B8367E4C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229711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B5E962E-494F-E2DB-96F8-86547CB6EFD9}"/>
              </a:ext>
            </a:extLst>
          </p:cNvPr>
          <p:cNvSpPr txBox="1"/>
          <p:nvPr/>
        </p:nvSpPr>
        <p:spPr>
          <a:xfrm>
            <a:off x="3889821" y="2228216"/>
            <a:ext cx="5166864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Get the </a:t>
            </a:r>
            <a:r>
              <a:rPr lang="en-US" altLang="zh-TW" sz="2000" dirty="0" err="1"/>
              <a:t>ymatrix</a:t>
            </a:r>
            <a:r>
              <a:rPr lang="zh-TW" altLang="en-US" sz="2000" dirty="0"/>
              <a:t>，</a:t>
            </a:r>
            <a:r>
              <a:rPr lang="en-US" altLang="zh-TW" sz="2000" dirty="0"/>
              <a:t>start the decoding process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Initialization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Bottom up decoding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Top down decoding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/>
              <a:t>Termaination</a:t>
            </a:r>
            <a:endParaRPr lang="en-US" altLang="zh-TW" sz="20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Check the syndrome is zero(or not)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/>
              <a:t>End/start the next iteration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8140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6DD75-76C1-D88F-1070-DB772421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主要程式內容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4D66DD-3BE3-897F-2CA3-85914E22B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874" y="1690688"/>
            <a:ext cx="5512083" cy="3759393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F9ACECD-D24C-2B84-EC7F-F99DC4CA109D}"/>
              </a:ext>
            </a:extLst>
          </p:cNvPr>
          <p:cNvSpPr txBox="1"/>
          <p:nvPr/>
        </p:nvSpPr>
        <p:spPr>
          <a:xfrm>
            <a:off x="6287030" y="365125"/>
            <a:ext cx="333142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err="1"/>
              <a:t>initial_decoding</a:t>
            </a:r>
            <a:endParaRPr lang="en-US" altLang="zh-TW" dirty="0"/>
          </a:p>
          <a:p>
            <a:r>
              <a:rPr lang="en-US" altLang="zh-TW" dirty="0"/>
              <a:t>(define </a:t>
            </a:r>
            <a:r>
              <a:rPr lang="en-US" altLang="zh-TW" dirty="0" err="1"/>
              <a:t>L_matrix</a:t>
            </a:r>
            <a:r>
              <a:rPr lang="en-US" altLang="zh-TW" dirty="0"/>
              <a:t>, </a:t>
            </a:r>
            <a:r>
              <a:rPr lang="en-US" altLang="zh-TW" dirty="0" err="1"/>
              <a:t>q_matrix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---------------------------------------</a:t>
            </a:r>
          </a:p>
          <a:p>
            <a:r>
              <a:rPr lang="en-US" altLang="zh-TW" dirty="0"/>
              <a:t>2. Bottom-up decoding</a:t>
            </a:r>
          </a:p>
          <a:p>
            <a:r>
              <a:rPr lang="en-US" altLang="zh-TW" dirty="0"/>
              <a:t>(</a:t>
            </a:r>
            <a:r>
              <a:rPr lang="en-US" altLang="zh-TW" dirty="0" err="1"/>
              <a:t>q_matrix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 err="1">
                <a:sym typeface="Wingdings" panose="05000000000000000000" pitchFamily="2" charset="2"/>
              </a:rPr>
              <a:t>r_matrix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/>
          </a:p>
          <a:p>
            <a:r>
              <a:rPr lang="en-US" altLang="zh-TW" dirty="0"/>
              <a:t>3. </a:t>
            </a:r>
            <a:r>
              <a:rPr lang="en-US" altLang="zh-TW" dirty="0" err="1"/>
              <a:t>Topdown_decoding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en-US" altLang="zh-TW" dirty="0" err="1"/>
              <a:t>L_matrix</a:t>
            </a:r>
            <a:r>
              <a:rPr lang="en-US" altLang="zh-TW" dirty="0"/>
              <a:t> + </a:t>
            </a:r>
            <a:r>
              <a:rPr lang="en-US" altLang="zh-TW" dirty="0" err="1"/>
              <a:t>r_matrix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 err="1">
                <a:sym typeface="Wingdings" panose="05000000000000000000" pitchFamily="2" charset="2"/>
              </a:rPr>
              <a:t>q_matrix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/>
          </a:p>
          <a:p>
            <a:r>
              <a:rPr lang="en-US" altLang="zh-TW" dirty="0"/>
              <a:t>4. </a:t>
            </a:r>
            <a:r>
              <a:rPr lang="en-US" altLang="zh-TW" dirty="0" err="1"/>
              <a:t>Termination_decoding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en-US" altLang="zh-TW" dirty="0" err="1"/>
              <a:t>L_matrix</a:t>
            </a:r>
            <a:r>
              <a:rPr lang="en-US" altLang="zh-TW" dirty="0"/>
              <a:t> + </a:t>
            </a:r>
            <a:r>
              <a:rPr lang="en-US" altLang="zh-TW" dirty="0" err="1"/>
              <a:t>r_matrix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 err="1">
                <a:sym typeface="Wingdings" panose="05000000000000000000" pitchFamily="2" charset="2"/>
              </a:rPr>
              <a:t>q_matrix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en-US" altLang="zh-TW" dirty="0" err="1"/>
              <a:t>q_matrix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altLang="zh-TW" dirty="0" err="1">
                <a:sym typeface="Wingdings" panose="05000000000000000000" pitchFamily="2" charset="2"/>
              </a:rPr>
              <a:t>ymatrix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/>
          </a:p>
          <a:p>
            <a:r>
              <a:rPr lang="en-US" altLang="zh-TW" dirty="0"/>
              <a:t>5. </a:t>
            </a:r>
            <a:r>
              <a:rPr lang="en-US" altLang="zh-TW" dirty="0" err="1"/>
              <a:t>Check_codeword</a:t>
            </a:r>
            <a:endParaRPr lang="en-US" altLang="zh-TW" dirty="0"/>
          </a:p>
          <a:p>
            <a:r>
              <a:rPr lang="en-US" altLang="zh-TW" dirty="0"/>
              <a:t>(check s = H*y = 0)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47D8526-0774-2F1E-6C34-5A0469F2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799" y="1734475"/>
            <a:ext cx="2299593" cy="161713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6730AC9-534E-4BDD-4184-25576989E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818" y="177580"/>
            <a:ext cx="2458574" cy="14393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0D022C5-0464-2A18-8E42-DBE5A024F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4889" y="3395396"/>
            <a:ext cx="2305322" cy="155654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5DEDF97-C572-3F7E-A4ED-5DE72C5A2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1708" y="4990604"/>
            <a:ext cx="2352146" cy="167839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CB4CD60-12D1-8237-FB12-135FDB616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004" y="6067185"/>
            <a:ext cx="2267589" cy="601811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8F833D4-1269-7C5A-9CAF-5A6A27120014}"/>
              </a:ext>
            </a:extLst>
          </p:cNvPr>
          <p:cNvSpPr txBox="1"/>
          <p:nvPr/>
        </p:nvSpPr>
        <p:spPr>
          <a:xfrm>
            <a:off x="604873" y="5697853"/>
            <a:ext cx="394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Flag: decide the decoding termination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92604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B1E7B-30F5-34A8-39DF-E4593C52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參數設定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E164354-E4C9-54A0-D0ED-16B998672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2447"/>
            <a:ext cx="4868410" cy="1639994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AC0E019-64CF-A6B7-F0D5-312F876A4517}"/>
              </a:ext>
            </a:extLst>
          </p:cNvPr>
          <p:cNvSpPr txBox="1"/>
          <p:nvPr/>
        </p:nvSpPr>
        <p:spPr>
          <a:xfrm>
            <a:off x="757766" y="4030134"/>
            <a:ext cx="49501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(1) Number of maximum iterations</a:t>
            </a:r>
            <a:r>
              <a:rPr lang="zh-TW" altLang="en-US" dirty="0">
                <a:ea typeface="新細明體" panose="02020500000000000000" pitchFamily="18" charset="-120"/>
              </a:rPr>
              <a:t>的次數為</a:t>
            </a:r>
            <a:r>
              <a:rPr lang="en-US" altLang="zh-TW" dirty="0">
                <a:ea typeface="新細明體" panose="02020500000000000000" pitchFamily="18" charset="-120"/>
              </a:rPr>
              <a:t>100</a:t>
            </a:r>
            <a:r>
              <a:rPr lang="zh-TW" altLang="en-US" dirty="0">
                <a:ea typeface="新細明體" panose="02020500000000000000" pitchFamily="18" charset="-120"/>
              </a:rPr>
              <a:t>次</a:t>
            </a: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(2) Seed = -2024</a:t>
            </a:r>
          </a:p>
          <a:p>
            <a:r>
              <a:rPr lang="zh-TW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◎ </a:t>
            </a:r>
            <a:r>
              <a:rPr lang="zh-TW" altLang="en-US" dirty="0"/>
              <a:t>暫時沒有設計</a:t>
            </a:r>
            <a:r>
              <a:rPr lang="en-US" altLang="zh-TW" dirty="0"/>
              <a:t>Bit-Flipping decoding algorithm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24AFE0-16DB-5BD0-6A84-8FBE73EE3E65}"/>
              </a:ext>
            </a:extLst>
          </p:cNvPr>
          <p:cNvSpPr txBox="1"/>
          <p:nvPr/>
        </p:nvSpPr>
        <p:spPr>
          <a:xfrm>
            <a:off x="838200" y="1565070"/>
            <a:ext cx="1386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/>
              <a:t>Sim.txt</a:t>
            </a:r>
            <a:endParaRPr lang="zh-TW" altLang="en-US" sz="32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8D549D-AF35-B17E-FABA-4199643689C0}"/>
              </a:ext>
            </a:extLst>
          </p:cNvPr>
          <p:cNvSpPr/>
          <p:nvPr/>
        </p:nvSpPr>
        <p:spPr>
          <a:xfrm>
            <a:off x="757766" y="1565070"/>
            <a:ext cx="5029277" cy="22973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371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22FAF1-D6CB-7D50-1A7E-EEE920F7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BPSK modulation &amp; AWGN channel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8852E8F-0EDC-A1FE-33F5-695A742E2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26105"/>
            <a:ext cx="3811875" cy="1605790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0D93EC-4150-4933-148A-308C49114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357" y="2626105"/>
            <a:ext cx="4267419" cy="251472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7C40027-6682-D792-89A8-B3AB13045662}"/>
              </a:ext>
            </a:extLst>
          </p:cNvPr>
          <p:cNvSpPr txBox="1"/>
          <p:nvPr/>
        </p:nvSpPr>
        <p:spPr>
          <a:xfrm>
            <a:off x="838200" y="1799165"/>
            <a:ext cx="2323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BPSK modulation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D1A0953-1852-6516-23B3-0156E39F76AD}"/>
              </a:ext>
            </a:extLst>
          </p:cNvPr>
          <p:cNvSpPr txBox="1"/>
          <p:nvPr/>
        </p:nvSpPr>
        <p:spPr>
          <a:xfrm>
            <a:off x="5596357" y="1799165"/>
            <a:ext cx="2070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AWGN channel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5577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C8D7B-3996-21CB-B29B-0884B384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Generate parity-check matrix (H)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9470DB9-4216-C8C4-DE04-4511B59E5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146023"/>
            <a:ext cx="5759746" cy="2667137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4FD1EC3-1909-432E-3CD6-869E32A9FFFD}"/>
              </a:ext>
            </a:extLst>
          </p:cNvPr>
          <p:cNvSpPr txBox="1"/>
          <p:nvPr/>
        </p:nvSpPr>
        <p:spPr>
          <a:xfrm>
            <a:off x="838200" y="1690688"/>
            <a:ext cx="3697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Source: “ ldpc_H_1023.txt ”</a:t>
            </a:r>
            <a:endParaRPr lang="zh-TW" altLang="en-US" sz="24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ABB29C-FC36-5D84-64F4-4CA97B3C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28" y="2650792"/>
            <a:ext cx="5689215" cy="36576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C3795CE-455C-B27E-0FCB-998AFDB01E80}"/>
              </a:ext>
            </a:extLst>
          </p:cNvPr>
          <p:cNvSpPr txBox="1"/>
          <p:nvPr/>
        </p:nvSpPr>
        <p:spPr>
          <a:xfrm>
            <a:off x="838200" y="2170740"/>
            <a:ext cx="5080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/>
              <a:t>s_connect</a:t>
            </a:r>
            <a:r>
              <a:rPr lang="en-US" altLang="zh-TW" sz="2400" b="1" dirty="0"/>
              <a:t>[1023][32] </a:t>
            </a:r>
            <a:r>
              <a:rPr lang="en-US" altLang="zh-TW" sz="2400" b="1" dirty="0">
                <a:sym typeface="Wingdings" panose="05000000000000000000" pitchFamily="2" charset="2"/>
              </a:rPr>
              <a:t> H[1023][1023]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0657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9DA08-1034-E8B4-9EDF-B7CCC626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Initial decoding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2566E51-6B08-01D8-AAE4-4ABED58BE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5488"/>
            <a:ext cx="7321926" cy="2463927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276E833-9D1C-F583-F8D6-076D2560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693" y="1995488"/>
            <a:ext cx="3599548" cy="210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F54F3-0703-FC97-9EC4-CDB0C315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Bottom-up decoding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A80A263-6003-1978-92F3-282058F8C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20" b="-1"/>
          <a:stretch/>
        </p:blipFill>
        <p:spPr>
          <a:xfrm>
            <a:off x="838200" y="2023533"/>
            <a:ext cx="5277121" cy="3452108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DF13D08-1760-471F-2204-3DC87C425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921" y="2429181"/>
            <a:ext cx="3756929" cy="26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DC8CE-558C-67B2-DBC5-603DD8AA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+mn-lt"/>
              </a:rPr>
              <a:t>Topdown_decoding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04B084C-4372-6D98-5DDA-F40345070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9679"/>
            <a:ext cx="6617040" cy="3473629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23D31E6-BF1E-670E-7562-A90E5A253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240" y="2200735"/>
            <a:ext cx="3641444" cy="24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07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E7F52-29FF-8BBC-E2E2-532CA38E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+mn-lt"/>
              </a:rPr>
              <a:t>Termination_decoding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857B5A6-F3B3-3D06-D7EE-15458F1DE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9463"/>
            <a:ext cx="7982360" cy="2787793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7299049-80C2-E186-C507-10E979E8F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837" y="2590677"/>
            <a:ext cx="3377963" cy="24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89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932A2-5F49-A563-E6C6-7396F35A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+mn-lt"/>
              </a:rPr>
              <a:t>Check_codeword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286C48A-2C88-744D-3EAF-33022F643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146"/>
            <a:ext cx="5143764" cy="3473629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C017207-62D8-0FDC-BA41-13BE73F217D7}"/>
              </a:ext>
            </a:extLst>
          </p:cNvPr>
          <p:cNvSpPr txBox="1"/>
          <p:nvPr/>
        </p:nvSpPr>
        <p:spPr>
          <a:xfrm>
            <a:off x="6400801" y="2349146"/>
            <a:ext cx="54984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/>
              <a:t>計算</a:t>
            </a:r>
            <a:r>
              <a:rPr lang="en-US" altLang="zh-TW" sz="2400" b="1" dirty="0"/>
              <a:t>syndrome</a:t>
            </a:r>
            <a:r>
              <a:rPr lang="zh-TW" altLang="en-US" sz="2400" b="1" dirty="0"/>
              <a:t>檢查是否為正確</a:t>
            </a:r>
            <a:r>
              <a:rPr lang="en-US" altLang="zh-TW" sz="2400" b="1" dirty="0"/>
              <a:t>codeword</a:t>
            </a:r>
          </a:p>
          <a:p>
            <a:r>
              <a:rPr lang="zh-TW" altLang="en-US" sz="2400" b="1" dirty="0"/>
              <a:t>要滿足</a:t>
            </a:r>
            <a:r>
              <a:rPr lang="en-US" altLang="zh-TW" sz="2400" b="1" dirty="0"/>
              <a:t>s[1023]</a:t>
            </a:r>
            <a:r>
              <a:rPr lang="zh-TW" altLang="en-US" sz="2400" b="1" dirty="0"/>
              <a:t>裡面每個元素皆為</a:t>
            </a:r>
            <a:r>
              <a:rPr lang="en-US" altLang="zh-TW" sz="2400" b="1" dirty="0"/>
              <a:t>0</a:t>
            </a:r>
          </a:p>
          <a:p>
            <a:endParaRPr lang="en-US" altLang="zh-TW" sz="2400" b="1" dirty="0"/>
          </a:p>
          <a:p>
            <a:r>
              <a:rPr lang="en-US" altLang="zh-TW" sz="2400" b="1" dirty="0"/>
              <a:t>Return 1 </a:t>
            </a:r>
            <a:r>
              <a:rPr lang="en-US" altLang="zh-TW" sz="2400" b="1" dirty="0">
                <a:sym typeface="Wingdings" panose="05000000000000000000" pitchFamily="2" charset="2"/>
              </a:rPr>
              <a:t> flag = 1 , </a:t>
            </a:r>
            <a:r>
              <a:rPr lang="zh-TW" altLang="en-US" sz="2400" b="1" dirty="0">
                <a:sym typeface="Wingdings" panose="05000000000000000000" pitchFamily="2" charset="2"/>
              </a:rPr>
              <a:t>繼續進行</a:t>
            </a:r>
            <a:r>
              <a:rPr lang="en-US" altLang="zh-TW" sz="2400" b="1" dirty="0">
                <a:sym typeface="Wingdings" panose="05000000000000000000" pitchFamily="2" charset="2"/>
              </a:rPr>
              <a:t>iteration</a:t>
            </a:r>
          </a:p>
          <a:p>
            <a:r>
              <a:rPr lang="en-US" altLang="zh-TW" sz="2400" b="1" dirty="0">
                <a:sym typeface="Wingdings" panose="05000000000000000000" pitchFamily="2" charset="2"/>
              </a:rPr>
              <a:t>Return 0  flag = 0 ,</a:t>
            </a:r>
            <a:r>
              <a:rPr lang="zh-TW" altLang="en-US" sz="2400" b="1" dirty="0">
                <a:sym typeface="Wingdings" panose="05000000000000000000" pitchFamily="2" charset="2"/>
              </a:rPr>
              <a:t> </a:t>
            </a:r>
            <a:r>
              <a:rPr lang="en-US" altLang="zh-TW" sz="2400" b="1" dirty="0">
                <a:sym typeface="Wingdings" panose="05000000000000000000" pitchFamily="2" charset="2"/>
              </a:rPr>
              <a:t>s[1023]</a:t>
            </a:r>
            <a:r>
              <a:rPr lang="zh-TW" altLang="en-US" sz="2400" b="1" dirty="0">
                <a:sym typeface="Wingdings" panose="05000000000000000000" pitchFamily="2" charset="2"/>
              </a:rPr>
              <a:t>全為零</a:t>
            </a:r>
            <a:r>
              <a:rPr lang="en-US" altLang="zh-TW" sz="2400" b="1" dirty="0">
                <a:sym typeface="Wingdings" panose="05000000000000000000" pitchFamily="2" charset="2"/>
              </a:rPr>
              <a:t>, end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4413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76F45-243C-D7CA-B8A6-D447FF3F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132"/>
            <a:ext cx="10769600" cy="1325563"/>
          </a:xfrm>
        </p:spPr>
        <p:txBody>
          <a:bodyPr/>
          <a:lstStyle/>
          <a:p>
            <a:r>
              <a:rPr lang="zh-TW" altLang="en-US" b="1" dirty="0">
                <a:latin typeface="+mn-lt"/>
              </a:rPr>
              <a:t>每個</a:t>
            </a:r>
            <a:r>
              <a:rPr lang="en-US" altLang="zh-TW" b="1" dirty="0">
                <a:latin typeface="+mn-lt"/>
              </a:rPr>
              <a:t>block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decode</a:t>
            </a:r>
            <a:r>
              <a:rPr lang="zh-TW" altLang="en-US" b="1" dirty="0">
                <a:latin typeface="+mn-lt"/>
              </a:rPr>
              <a:t>結束就計算一次</a:t>
            </a:r>
            <a:r>
              <a:rPr lang="en-US" altLang="zh-TW" b="1" dirty="0">
                <a:latin typeface="+mn-lt"/>
              </a:rPr>
              <a:t>BER/BLER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192E25-5CD1-7265-4728-5549B1256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0695"/>
            <a:ext cx="7017111" cy="920797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0BF644C-D804-F9C1-4C56-69598C1417DA}"/>
              </a:ext>
            </a:extLst>
          </p:cNvPr>
          <p:cNvSpPr txBox="1"/>
          <p:nvPr/>
        </p:nvSpPr>
        <p:spPr>
          <a:xfrm>
            <a:off x="838200" y="3356058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a typeface="新細明體" panose="02020500000000000000" pitchFamily="18" charset="-120"/>
              </a:rPr>
              <a:t>＊計算結束後，為了節省記憶體，當下重新生成下一個</a:t>
            </a:r>
            <a:r>
              <a:rPr lang="en-US" altLang="zh-TW" sz="2400" b="1" dirty="0">
                <a:ea typeface="新細明體" panose="02020500000000000000" pitchFamily="18" charset="-120"/>
              </a:rPr>
              <a:t>BLOCK</a:t>
            </a:r>
            <a:r>
              <a:rPr lang="zh-TW" altLang="en-US" sz="2400" b="1" dirty="0">
                <a:ea typeface="新細明體" panose="02020500000000000000" pitchFamily="18" charset="-120"/>
              </a:rPr>
              <a:t> 的 </a:t>
            </a:r>
            <a:r>
              <a:rPr lang="en-US" altLang="zh-TW" sz="2400" b="1" dirty="0">
                <a:ea typeface="新細明體" panose="02020500000000000000" pitchFamily="18" charset="-120"/>
              </a:rPr>
              <a:t>u[781]</a:t>
            </a:r>
            <a:r>
              <a:rPr lang="zh-TW" altLang="en-US" sz="2400" b="1" dirty="0">
                <a:ea typeface="新細明體" panose="02020500000000000000" pitchFamily="18" charset="-120"/>
              </a:rPr>
              <a:t> </a:t>
            </a:r>
            <a:r>
              <a:rPr lang="en-US" altLang="zh-TW" sz="2400" b="1" dirty="0">
                <a:ea typeface="新細明體" panose="02020500000000000000" pitchFamily="18" charset="-120"/>
              </a:rPr>
              <a:t>information bits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47559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0BB534-C840-3E86-BFEA-FBC71C26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+mn-lt"/>
              </a:rPr>
              <a:t>Regenerate_u_sequence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046710-4928-AF79-DC8E-2D310C72F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090" y="1873933"/>
            <a:ext cx="7506086" cy="430552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AACEF02-AD68-9B77-8028-E2164AA9AD16}"/>
              </a:ext>
            </a:extLst>
          </p:cNvPr>
          <p:cNvSpPr txBox="1"/>
          <p:nvPr/>
        </p:nvSpPr>
        <p:spPr>
          <a:xfrm>
            <a:off x="6096000" y="3241863"/>
            <a:ext cx="55218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2400" b="1" dirty="0"/>
              <a:t>紀錄上一次</a:t>
            </a:r>
            <a:r>
              <a:rPr lang="en-US" altLang="zh-TW" sz="2400" b="1" dirty="0"/>
              <a:t>u[781]</a:t>
            </a:r>
            <a:r>
              <a:rPr lang="zh-TW" altLang="en-US" sz="2400" b="1" dirty="0"/>
              <a:t>中的最後</a:t>
            </a:r>
            <a:r>
              <a:rPr lang="en-US" altLang="zh-TW" sz="2400" b="1" dirty="0"/>
              <a:t>6</a:t>
            </a:r>
            <a:r>
              <a:rPr lang="zh-TW" altLang="en-US" sz="2400" b="1" dirty="0"/>
              <a:t>個</a:t>
            </a:r>
            <a:r>
              <a:rPr lang="en-US" altLang="zh-TW" sz="2400" b="1" dirty="0"/>
              <a:t>bits</a:t>
            </a:r>
          </a:p>
          <a:p>
            <a:pPr marL="342900" indent="-342900">
              <a:buAutoNum type="arabicPeriod"/>
            </a:pPr>
            <a:r>
              <a:rPr lang="zh-TW" altLang="en-US" sz="2400" b="1" dirty="0"/>
              <a:t>根據遞迴規則重新生成一組</a:t>
            </a:r>
            <a:r>
              <a:rPr lang="en-US" altLang="zh-TW" sz="2400" b="1" dirty="0"/>
              <a:t>u[781]</a:t>
            </a:r>
          </a:p>
          <a:p>
            <a:pPr marL="342900" indent="-342900">
              <a:buAutoNum type="arabicPeriod"/>
            </a:pPr>
            <a:r>
              <a:rPr lang="en-US" altLang="zh-TW" sz="2400" b="1" dirty="0"/>
              <a:t>X = U * G</a:t>
            </a:r>
          </a:p>
          <a:p>
            <a:pPr marL="342900" indent="-342900">
              <a:buAutoNum type="arabicPeriod"/>
            </a:pPr>
            <a:r>
              <a:rPr lang="en-US" altLang="zh-TW" sz="2400" b="1" dirty="0"/>
              <a:t>BPSK &amp; AWGN </a:t>
            </a:r>
            <a:r>
              <a:rPr lang="en-US" altLang="zh-TW" sz="2400" b="1" dirty="0">
                <a:sym typeface="Wingdings" panose="05000000000000000000" pitchFamily="2" charset="2"/>
              </a:rPr>
              <a:t> </a:t>
            </a:r>
            <a:r>
              <a:rPr lang="en-US" altLang="zh-TW" sz="2400" b="1" dirty="0" err="1">
                <a:sym typeface="Wingdings" panose="05000000000000000000" pitchFamily="2" charset="2"/>
              </a:rPr>
              <a:t>ymatrix</a:t>
            </a:r>
            <a:r>
              <a:rPr lang="en-US" altLang="zh-TW" sz="2400" b="1" dirty="0">
                <a:sym typeface="Wingdings" panose="05000000000000000000" pitchFamily="2" charset="2"/>
              </a:rPr>
              <a:t> = </a:t>
            </a:r>
            <a:r>
              <a:rPr lang="en-US" altLang="zh-TW" sz="2400" b="1" dirty="0" err="1">
                <a:sym typeface="Wingdings" panose="05000000000000000000" pitchFamily="2" charset="2"/>
              </a:rPr>
              <a:t>xmatrix</a:t>
            </a:r>
            <a:r>
              <a:rPr lang="en-US" altLang="zh-TW" sz="2400" b="1" dirty="0">
                <a:sym typeface="Wingdings" panose="05000000000000000000" pitchFamily="2" charset="2"/>
              </a:rPr>
              <a:t> + n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7021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01246-727F-4962-0B82-D8725C05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59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SPA(Sum-Product Algorithm) 100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A80748D7-EC16-013F-CCAC-169787CEF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373082"/>
              </p:ext>
            </p:extLst>
          </p:nvPr>
        </p:nvGraphicFramePr>
        <p:xfrm>
          <a:off x="596900" y="1682222"/>
          <a:ext cx="10998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539079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1258822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587022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508670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982010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7636896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7170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721757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7296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6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6419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6033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11284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10434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9326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40146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30077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18649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2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875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684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439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46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0.082190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0.077247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0.072241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0.066799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0.059706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0.051403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0.038511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0.023878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05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0.995000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0.955000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0.875000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0.684000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0.439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57919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F8F45F4-CB56-0AFB-4C33-E0DCF2234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829488"/>
              </p:ext>
            </p:extLst>
          </p:nvPr>
        </p:nvGraphicFramePr>
        <p:xfrm>
          <a:off x="596900" y="3995948"/>
          <a:ext cx="109939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7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8984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3809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8931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2318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3394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959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217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5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0.011503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0.004877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0.001144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0.000297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0.000087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0.000025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9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0.217000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0.096000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0.021200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0.005700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0.001640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0.000460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0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38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DE76-4981-D985-82F6-40161FBA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361AD-4BEA-6F52-FA7F-F00F2FEA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59"/>
            <a:ext cx="10515600" cy="1325563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SPA(Sum-Product Algorithm) 30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A78528BE-9693-7347-0CEB-B6BD1EF5F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073749"/>
              </p:ext>
            </p:extLst>
          </p:nvPr>
        </p:nvGraphicFramePr>
        <p:xfrm>
          <a:off x="596900" y="1682222"/>
          <a:ext cx="10998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539079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1258822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587022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508670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982010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7636896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7170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721757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7296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6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12857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12081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11284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10434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9330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40465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30294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19353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23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884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695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462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46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0.082311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0.077343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0.072241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0.066799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0.059731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0.051812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0.038789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0.024780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05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0.995000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0.955000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0.884000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0.695000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0.462000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579199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094A87D-7E8C-B53D-75C5-062414C4B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08760"/>
              </p:ext>
            </p:extLst>
          </p:nvPr>
        </p:nvGraphicFramePr>
        <p:xfrm>
          <a:off x="596900" y="3995948"/>
          <a:ext cx="109939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7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SNR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10176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4863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16295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5933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10047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2705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246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409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246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5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0.013029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0.006227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0.002086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0.000760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0.000257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0.000069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9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0.246000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0.121000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0.040900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0.015300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0.004920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0.001300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0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968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FF13C-5EDC-0A80-A1DF-8CB314038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AA0EC-556F-1692-7065-5F4C9E00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9295"/>
            <a:ext cx="9443720" cy="969168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MSA(Min-Sum Algorithm) 100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F24A1B4-04DB-54F5-6781-3A58891AE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380067"/>
              </p:ext>
            </p:extLst>
          </p:nvPr>
        </p:nvGraphicFramePr>
        <p:xfrm>
          <a:off x="596900" y="91027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539079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1258822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587022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508670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982010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7636896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7170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721757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7296881"/>
                    </a:ext>
                  </a:extLst>
                </a:gridCol>
              </a:tblGrid>
              <a:tr h="213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65402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38025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50544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49663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47738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47077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45484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44595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43671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42188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807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498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1697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0.129434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0.127178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0.122248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0.120556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0.116476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0.114200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0.111834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0.108036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03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0.996000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2305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2C6BDBE-378E-9FE1-D0AF-0762A5738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67862"/>
              </p:ext>
            </p:extLst>
          </p:nvPr>
        </p:nvGraphicFramePr>
        <p:xfrm>
          <a:off x="596900" y="286067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41081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38675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35150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27444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19255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11618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10164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14387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477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438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354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249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133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0.105201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0.099040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0.090013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0.070279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0.049309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0.029752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0.013014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0.003684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0.954000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0.876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0.708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0.498000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0.302000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0.133000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0.039200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78D99E-CC40-303F-D044-9F069EB7B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964018"/>
              </p:ext>
            </p:extLst>
          </p:nvPr>
        </p:nvGraphicFramePr>
        <p:xfrm>
          <a:off x="596899" y="4811081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60000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14057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6047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1638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0.000900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0.000129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0.000021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0.009600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0.001383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0.000220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3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1B43-27A1-3D74-FAE2-5D29083D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9D534D-0EC6-4397-74BD-0EFE0DB3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9295"/>
            <a:ext cx="9443720" cy="969168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MSA(Min-Sum Algorithm) 50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A0147401-0D6C-05A7-88FD-8070AC4370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308375"/>
              </p:ext>
            </p:extLst>
          </p:nvPr>
        </p:nvGraphicFramePr>
        <p:xfrm>
          <a:off x="596900" y="91027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539079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1258822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587022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508670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982010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7636896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7170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721757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7296881"/>
                    </a:ext>
                  </a:extLst>
                </a:gridCol>
              </a:tblGrid>
              <a:tr h="213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65402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38025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20277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19633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19033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18965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18331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17582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17177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16681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807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1697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0.129814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0.125691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0.121850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0.121415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0.117356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0.112561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0.109968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0.106793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03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0.995000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2305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C906ECB-6390-A3F2-2BF6-0480F8393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375309"/>
              </p:ext>
            </p:extLst>
          </p:nvPr>
        </p:nvGraphicFramePr>
        <p:xfrm>
          <a:off x="596900" y="286067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41628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39113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34906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27472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19076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11323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9725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14731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477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438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354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249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133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0.106602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0.100161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0.089388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0.070351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0.048850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0.028996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0.012452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0.003772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0.954000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0.876000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0.708000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0.498000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0.302000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0.133000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0.039200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D5B1DF4-B957-1570-30E3-F4F78507E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28379"/>
              </p:ext>
            </p:extLst>
          </p:nvPr>
        </p:nvGraphicFramePr>
        <p:xfrm>
          <a:off x="596899" y="4811081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60000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14235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6098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1612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0.000911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0.000130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0.000021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0.009600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0.001383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0.000220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82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DAF7-5FAD-4391-D866-64092CF1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67ADA5-1A21-9ACD-F543-377F9B8B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9295"/>
            <a:ext cx="9443720" cy="969168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MSA(Min-Sum Algorithm) 30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B9703222-9BB5-82F7-77F4-62880B801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383475"/>
              </p:ext>
            </p:extLst>
          </p:nvPr>
        </p:nvGraphicFramePr>
        <p:xfrm>
          <a:off x="596900" y="91027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55390799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11258822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587022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508670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982010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7636896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717079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721757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67296881"/>
                    </a:ext>
                  </a:extLst>
                </a:gridCol>
              </a:tblGrid>
              <a:tr h="213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665402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38025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20585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19714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18510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18438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18366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17626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17134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16770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807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1697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0.131786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0.126210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0.118502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0.118041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0.117580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0.112843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0.109693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0.107362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90330"/>
                  </a:ext>
                </a:extLst>
              </a:tr>
              <a:tr h="288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0.995000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2305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8BD98AA-4974-23AD-06F6-F2EBFAA54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94578"/>
              </p:ext>
            </p:extLst>
          </p:nvPr>
        </p:nvGraphicFramePr>
        <p:xfrm>
          <a:off x="596900" y="286067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40892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38691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34328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27581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19157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11752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9807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14453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477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438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354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249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151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133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196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0.104717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0.099081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0.087908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0.070630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0.049058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0.030095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0.012557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0.003701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0.992000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0.954000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0.876000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0.708000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0.498000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0.302000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0.133000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0.039200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CA3CE2C-2CA5-C879-358C-E5CE6E61F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872847"/>
              </p:ext>
            </p:extLst>
          </p:nvPr>
        </p:nvGraphicFramePr>
        <p:xfrm>
          <a:off x="596899" y="4811081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40901723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16333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5605028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9767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9602748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93917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873916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6722870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68887552"/>
                    </a:ext>
                  </a:extLst>
                </a:gridCol>
              </a:tblGrid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79566"/>
                  </a:ext>
                </a:extLst>
              </a:tr>
              <a:tr h="2332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60000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100000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67259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14513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6499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1561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49101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192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990258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0.000929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0.000139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0.000020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62220"/>
                  </a:ext>
                </a:extLst>
              </a:tr>
              <a:tr h="23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0.009600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0.001383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0.000220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71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145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0546-A47C-9B96-D132-5C89A27A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A6EE0E-7023-1942-1636-E7B28455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86892"/>
            <a:ext cx="9931400" cy="832061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BF(Bit-Flipping Algorithm) 100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2BEC7AC-5C39-5F9D-104B-56DE95A57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950541"/>
              </p:ext>
            </p:extLst>
          </p:nvPr>
        </p:nvGraphicFramePr>
        <p:xfrm>
          <a:off x="596900" y="91895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588435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14383138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9143567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683327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7840914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4879772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50241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6280053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325509"/>
                    </a:ext>
                  </a:extLst>
                </a:gridCol>
              </a:tblGrid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72896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4817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53158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51242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50087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48322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47578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47632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43492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42211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631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45702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0.136128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0.131222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0.128264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0.123744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0.121839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0.121977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0.111375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0.108095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99383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417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AE2565-405E-9F31-034B-A32F1E6AA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983274"/>
              </p:ext>
            </p:extLst>
          </p:nvPr>
        </p:nvGraphicFramePr>
        <p:xfrm>
          <a:off x="596899" y="2890255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38495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33937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35513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27638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21384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15864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11506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11276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494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360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269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0.098579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0.086907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0.090942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0.070776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0.054761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0.040625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0.029465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0.014438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0.988000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0.962000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0.848000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0.720000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0.538000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0.354000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0.200000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1E8CD8-E3BF-F7B7-1067-16AE5BF14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98092"/>
              </p:ext>
            </p:extLst>
          </p:nvPr>
        </p:nvGraphicFramePr>
        <p:xfrm>
          <a:off x="596899" y="486155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9173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13095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7710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2598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137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0.005873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0.001677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0.000494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0.000067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0.000012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0.077000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0.023800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0.006850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0.001280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0.000220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400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AE022-50BC-1D0C-0246-19237FC2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B98D4-18E0-4889-DDC0-05BFBFAA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86892"/>
            <a:ext cx="9931400" cy="832061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BF(Bit-Flipping Algorithm) 50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AF099-B71D-D9D5-DBCD-7432F40AD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25462"/>
              </p:ext>
            </p:extLst>
          </p:nvPr>
        </p:nvGraphicFramePr>
        <p:xfrm>
          <a:off x="596900" y="91895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588435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14383138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9143567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683327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7840914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4879772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50241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6280053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325509"/>
                    </a:ext>
                  </a:extLst>
                </a:gridCol>
              </a:tblGrid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72896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4817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52473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50611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48854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48174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47352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47554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42246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42048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631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45702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0.134374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0.129606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0.125106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0.123365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0.121260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0.121777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0.108184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0.107677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99383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417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DF53C4D-654B-B300-B3D8-69EA6938E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22428"/>
              </p:ext>
            </p:extLst>
          </p:nvPr>
        </p:nvGraphicFramePr>
        <p:xfrm>
          <a:off x="596899" y="2890255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38314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32786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35402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27519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21197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15830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10377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11276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494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360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269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0.098115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0.083959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0.090658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0.070471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0.054282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0.040538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0.026574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0.014438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0.988000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0.962000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0.848000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0.720000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0.538000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0.354000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0.200000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80FE9AF-FF02-9AC3-1455-B90450043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166560"/>
              </p:ext>
            </p:extLst>
          </p:nvPr>
        </p:nvGraphicFramePr>
        <p:xfrm>
          <a:off x="596899" y="486155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9154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12429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7674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2597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475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137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0.005860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0.001591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0.000491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0.000067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0.000012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0.077000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0.023800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0.006850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0.001280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0.000220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04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CFFB-D74B-333D-310D-89142D9C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4D8976-7F1E-CB8F-00BD-36B6ECB5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86892"/>
            <a:ext cx="9931400" cy="832061"/>
          </a:xfrm>
        </p:spPr>
        <p:txBody>
          <a:bodyPr/>
          <a:lstStyle/>
          <a:p>
            <a:r>
              <a:rPr lang="en-US" altLang="zh-TW" b="1" dirty="0">
                <a:latin typeface="+mn-lt"/>
              </a:rPr>
              <a:t>BF(Bit-Flipping Algorithm) 30 iteration</a:t>
            </a:r>
            <a:endParaRPr lang="zh-TW" altLang="en-US" b="1" dirty="0">
              <a:latin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CB9F4C7-E3D7-27D5-F8B6-23EDB16C9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799536"/>
              </p:ext>
            </p:extLst>
          </p:nvPr>
        </p:nvGraphicFramePr>
        <p:xfrm>
          <a:off x="596900" y="918953"/>
          <a:ext cx="10998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588435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14383138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9143567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6833270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7840914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4879772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502415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62800536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25325509"/>
                    </a:ext>
                  </a:extLst>
                </a:gridCol>
              </a:tblGrid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2.4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72896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4817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49815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45033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43801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44039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43028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41100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38980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37807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6310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045702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0.127567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0.115321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0.112166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0.112776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0.110187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0.105250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0.099821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0.096817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993831"/>
                  </a:ext>
                </a:extLst>
              </a:tr>
              <a:tr h="2319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41700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F25976-E13D-5FF9-07E2-101D5B79A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76732"/>
              </p:ext>
            </p:extLst>
          </p:nvPr>
        </p:nvGraphicFramePr>
        <p:xfrm>
          <a:off x="596899" y="2890255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500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33475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31577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30758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25582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18925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14758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9393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9892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494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481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424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360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269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177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0.085723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0.080863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0.078766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0.065511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0.048464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0.037793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0.024054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0.012666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0.988000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0.962000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0.848000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0.720000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0.538000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0.354000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0.200000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81F38FE-136A-21CE-2EFD-6836B18EA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160164"/>
              </p:ext>
            </p:extLst>
          </p:nvPr>
        </p:nvGraphicFramePr>
        <p:xfrm>
          <a:off x="596899" y="4861557"/>
          <a:ext cx="10981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322991131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8194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378008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843342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253840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63751621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2736396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73364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114356385"/>
                    </a:ext>
                  </a:extLst>
                </a:gridCol>
              </a:tblGrid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SNR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4.6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4.8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5.0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98350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50000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358271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No. bit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8355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12250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6904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2527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1507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24836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err="1">
                          <a:solidFill>
                            <a:schemeClr val="tx1"/>
                          </a:solidFill>
                        </a:rPr>
                        <a:t>No.block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 errors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154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238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137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64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22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932653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0.005349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0.001569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0.000442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0.000065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0.0000190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42377"/>
                  </a:ext>
                </a:extLst>
              </a:tr>
              <a:tr h="2599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BLER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0.077000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0.023800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0.006850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0.001280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0.000220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562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60A93-A6A9-60CB-CA61-DC3BA7A5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SPA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35C5BE7-7EE4-625F-CA92-4B172105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701" y="1690688"/>
            <a:ext cx="5746598" cy="47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06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03C9-CE2D-8884-880C-C82D7EB7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F743C1-BB8E-6077-ADC2-75642D1A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MSA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E08854E-BF9A-EB8E-D01B-493F06D45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892" y="1432907"/>
            <a:ext cx="6136216" cy="505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54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EA54-60D4-1994-89BA-D93E6077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8E9C2-49DB-78C1-04E4-FD091FD0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BF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B23DB8-0255-58C5-F17B-3316C966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12" y="1490133"/>
            <a:ext cx="5941176" cy="487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34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7E66-4D57-92ED-8619-D159228B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CB752F-1FBE-ED31-EA8E-97052D84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SPA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/ 30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CBC7EC5-5F8F-1D75-C66B-4B82AB1E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716" y="1829022"/>
            <a:ext cx="4883150" cy="402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49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80DE-3833-C725-08C8-30E01933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7896C-7FD4-80B5-A110-9921FE84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MSA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/ 50 / 30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46B095-EDBA-4308-0AA0-1CA9C58A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67" y="1490134"/>
            <a:ext cx="5861466" cy="48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84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0658-F244-0C91-AD37-CD5122DB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D41C45-5FD6-4C40-CFA4-A8A60245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BF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/ 50 / 30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01E050-78A7-DFC2-D54E-56A1B232C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237" y="1497445"/>
            <a:ext cx="6105525" cy="499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8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9BFAA4-2F2E-D1C5-3168-549DAA86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Overall Comparison (Max iteration: 100)</a:t>
            </a:r>
            <a:endParaRPr lang="zh-TW" altLang="en-US" b="1" dirty="0"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D51C763-8E50-F7A4-B330-40C46BE4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724" y="1532466"/>
            <a:ext cx="6176551" cy="505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09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C3A7-345E-F22E-A810-00CD56A7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397BC-7A1B-1051-1143-CDBFB115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SPA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simulation(30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55CB9C-26D9-524E-58C8-A5DFC7A1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928" y="1938867"/>
            <a:ext cx="4946144" cy="416030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4A8B770-9E85-E8B6-82F9-C0FBC317800F}"/>
              </a:ext>
            </a:extLst>
          </p:cNvPr>
          <p:cNvSpPr txBox="1"/>
          <p:nvPr/>
        </p:nvSpPr>
        <p:spPr>
          <a:xfrm>
            <a:off x="3622928" y="6147299"/>
            <a:ext cx="543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/>
              <a:t>藍色線為解對情況下所需要的平均</a:t>
            </a:r>
            <a:r>
              <a:rPr lang="en-US" altLang="zh-TW" sz="2000" dirty="0"/>
              <a:t>iteration</a:t>
            </a:r>
            <a:r>
              <a:rPr lang="zh-TW" altLang="en-US" sz="2000" dirty="0"/>
              <a:t>次數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37DEBC3-06D5-A68E-A63F-4E49113DDFB9}"/>
              </a:ext>
            </a:extLst>
          </p:cNvPr>
          <p:cNvSpPr txBox="1"/>
          <p:nvPr/>
        </p:nvSpPr>
        <p:spPr>
          <a:xfrm>
            <a:off x="9059866" y="2418080"/>
            <a:ext cx="292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SNR = 1.6</a:t>
            </a:r>
            <a:r>
              <a:rPr lang="zh-TW" altLang="en-US" dirty="0"/>
              <a:t>以前都尚未解對</a:t>
            </a:r>
          </a:p>
        </p:txBody>
      </p:sp>
    </p:spTree>
    <p:extLst>
      <p:ext uri="{BB962C8B-B14F-4D97-AF65-F5344CB8AC3E}">
        <p14:creationId xmlns:p14="http://schemas.microsoft.com/office/powerpoint/2010/main" val="3332959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E8B1-83C6-8420-F07A-3AB421C3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E2294D-083F-D461-C1F2-7B3D5334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MSA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simulation(100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F5673F-A1B5-3F2F-2DD3-3567DD3DA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3" y="1481667"/>
            <a:ext cx="5938022" cy="49223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FB8B431-F5A2-D46F-9E12-5B34D4735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08" y="1690688"/>
            <a:ext cx="5110893" cy="42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83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BB8D-209F-9EF1-5249-C1089FFA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10CEEC-8456-E209-CCAB-80F3DABE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n-lt"/>
              </a:rPr>
              <a:t>BF</a:t>
            </a:r>
            <a:r>
              <a:rPr lang="zh-TW" altLang="en-US" b="1" dirty="0">
                <a:latin typeface="+mn-lt"/>
              </a:rPr>
              <a:t> </a:t>
            </a:r>
            <a:r>
              <a:rPr lang="en-US" altLang="zh-TW" b="1" dirty="0">
                <a:latin typeface="+mn-lt"/>
              </a:rPr>
              <a:t>simulation(30 vs 50 iteration)</a:t>
            </a:r>
            <a:endParaRPr lang="zh-TW" altLang="en-US" b="1" dirty="0">
              <a:latin typeface="+mn-l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52FDB43-8C16-47A4-EAF2-2535DB0D2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3" y="1617133"/>
            <a:ext cx="5767052" cy="48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70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17716</TotalTime>
  <Words>1654</Words>
  <Application>Microsoft Office PowerPoint</Application>
  <PresentationFormat>寬螢幕</PresentationFormat>
  <Paragraphs>1106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9" baseType="lpstr">
      <vt:lpstr>新細明體</vt:lpstr>
      <vt:lpstr>標楷體</vt:lpstr>
      <vt:lpstr>Arial</vt:lpstr>
      <vt:lpstr>Calibri</vt:lpstr>
      <vt:lpstr>Calibri Light</vt:lpstr>
      <vt:lpstr>Wingdings</vt:lpstr>
      <vt:lpstr>Office 佈景主題</vt:lpstr>
      <vt:lpstr>ECC Final Project</vt:lpstr>
      <vt:lpstr>LDPC Codes Block Diagram</vt:lpstr>
      <vt:lpstr>LDPC程式流程圖</vt:lpstr>
      <vt:lpstr>主要程式內容</vt:lpstr>
      <vt:lpstr>參數設定</vt:lpstr>
      <vt:lpstr>BPSK modulation &amp; AWGN channel</vt:lpstr>
      <vt:lpstr>Generate parity-check matrix (H)</vt:lpstr>
      <vt:lpstr>Initial decoding</vt:lpstr>
      <vt:lpstr>Bottom-up decoding</vt:lpstr>
      <vt:lpstr>Topdown_decoding</vt:lpstr>
      <vt:lpstr>Termination_decoding</vt:lpstr>
      <vt:lpstr>Check_codeword</vt:lpstr>
      <vt:lpstr>每個block decode結束就計算一次BER/BLER</vt:lpstr>
      <vt:lpstr>Regenerate_u_sequence</vt:lpstr>
      <vt:lpstr>SPA(Sum-Product Algorithm) 100 iteration</vt:lpstr>
      <vt:lpstr>SPA(Sum-Product Algorithm) 30 iteration</vt:lpstr>
      <vt:lpstr>MSA(Min-Sum Algorithm) 100 iteration</vt:lpstr>
      <vt:lpstr>MSA(Min-Sum Algorithm) 50 iteration</vt:lpstr>
      <vt:lpstr>MSA(Min-Sum Algorithm) 30 iteration</vt:lpstr>
      <vt:lpstr>BF(Bit-Flipping Algorithm) 100 iteration</vt:lpstr>
      <vt:lpstr>BF(Bit-Flipping Algorithm) 50 iteration</vt:lpstr>
      <vt:lpstr>BF(Bit-Flipping Algorithm) 30 iteration</vt:lpstr>
      <vt:lpstr>SPA simulation(100 iteration)</vt:lpstr>
      <vt:lpstr>MSA simulation(100 iteration)</vt:lpstr>
      <vt:lpstr>BF simulation(100 iteration)</vt:lpstr>
      <vt:lpstr>SPA simulation(100 / 30 iteration)</vt:lpstr>
      <vt:lpstr>MSA simulation(100 / 50 / 30 iteration)</vt:lpstr>
      <vt:lpstr>BF simulation(100 / 50 / 30 iteration)</vt:lpstr>
      <vt:lpstr>Overall Comparison (Max iteration: 100)</vt:lpstr>
      <vt:lpstr>SPA simulation(30 iteration)</vt:lpstr>
      <vt:lpstr>MSA simulation(100 iteration)</vt:lpstr>
      <vt:lpstr>BF simulation(30 vs 50 iteration)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a0955068896@gmail.com</dc:creator>
  <cp:lastModifiedBy>a0955068896@gmail.com</cp:lastModifiedBy>
  <cp:revision>7</cp:revision>
  <dcterms:created xsi:type="dcterms:W3CDTF">2025-01-09T04:07:33Z</dcterms:created>
  <dcterms:modified xsi:type="dcterms:W3CDTF">2025-02-05T14:17:35Z</dcterms:modified>
</cp:coreProperties>
</file>